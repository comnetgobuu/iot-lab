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45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040380"/>
            <a:ext cx="2926080" cy="2926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0" y="2537460"/>
            <a:ext cx="3931920" cy="39319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034540"/>
            <a:ext cx="4937760" cy="49377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594360"/>
            <a:ext cx="1554480" cy="15544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6" name="Image 0" descr="/home/claude/deck/assets/hero_di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835" y="96743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ภารกิจเฝ้าระวังภัยพิบัติ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3127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Disaster Surveillance Mission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383280" y="3703320"/>
            <a:ext cx="2377440" cy="18288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ESP32 IoT Workshop สำหรับนักเรียนชั้นประถมศึกษาปีที่ 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A0C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ระยะเวลา 6 ชั่วโมง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circu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ภาพรวมเวิร์กช็อป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วันนี้เราจะทำอะไรกันบ้าง?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6052" y="16002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4692" y="1892808"/>
            <a:ext cx="822960" cy="82296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8" name="Image 1" descr="/home/claude/deck/assets/circu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09854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909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7492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ต่อวงจร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53212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 ESP32 + อุปกรณ์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บน breadboard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354580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546604" y="16002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095244" y="1892808"/>
            <a:ext cx="822960" cy="82296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15" name="Image 2" descr="/home/claude/deck/asset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0985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09644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638044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เขียนโค้ด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683764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วางโค้ดที่เตรียมไว้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แก้แค่ตัวเลข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485132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677156" y="16002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25796" y="1892808"/>
            <a:ext cx="822960" cy="822960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22" name="Image 3" descr="/home/claude/deck/assets/te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09854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40196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768596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ทดลอง &amp; สังเกต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4814316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ดูผลลัพธ์จริง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ผ่าน Serial Monitor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615684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807708" y="16002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356348" y="1892808"/>
            <a:ext cx="822960" cy="82296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9" name="Image 4" descr="/home/claude/deck/assets/gam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2098548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27074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6899148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แข่งเกม!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6944868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ใช้สิ่งที่เรียนรู้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มาแข่งกันในเกม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100" dirty="0"/>
          </a:p>
        </p:txBody>
      </p:sp>
      <p:pic>
        <p:nvPicPr>
          <p:cNvPr id="34" name="Image 5" descr="/home/claude/deck/assets/hero_di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ตารางเวลากิจกรรม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รวมทั้งหมด 6 ชั่วโมง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1682496"/>
            <a:ext cx="493776" cy="493776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8" name="Image 1" descr="/home/claude/deck/assets/butto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22" y="1801002"/>
            <a:ext cx="256764" cy="256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1645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ต่อวงจรรวม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429000" y="157276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45 นาที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404872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216" y="2514600"/>
            <a:ext cx="493776" cy="493776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13" name="Image 2" descr="/home/claude/deck/assets/le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722" y="2633106"/>
            <a:ext cx="256764" cy="256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4780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1: Digital I/O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429000" y="24048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 นาที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57200" y="3236976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5216" y="3346704"/>
            <a:ext cx="493776" cy="493776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18" name="Image 3" descr="/home/claude/deck/assets/po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22" y="3465210"/>
            <a:ext cx="256764" cy="2567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310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2: ADC/โพเทนชิโอมิเตอร์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3429000" y="323697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 นาที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57200" y="406908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85216" y="4178808"/>
            <a:ext cx="493776" cy="493776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23" name="Image 4" descr="/home/claude/deck/assets/dh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22" y="4297314"/>
            <a:ext cx="256764" cy="2567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07008" y="41422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3: DHT11 เซนเซอร์วัดอากาศ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3429000" y="406908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35 นาที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4800600" y="1572768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928616" y="1682496"/>
            <a:ext cx="493776" cy="493776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28" name="Image 5" descr="/home/claude/deck/assets/stopwat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122" y="1801002"/>
            <a:ext cx="256764" cy="2567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50408" y="1645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มินิเกม: กดให้ไว ก่อนภัยมา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7772400" y="157276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 นาที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4800600" y="2404872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928616" y="2514600"/>
            <a:ext cx="493776" cy="493776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33" name="Image 6" descr="/home/claude/deck/assets/wifi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122" y="2633106"/>
            <a:ext cx="256764" cy="2567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550408" y="24780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5: เว็บเซิร์ฟเวอร์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772400" y="24048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 นาที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4800600" y="3236976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928616" y="3346704"/>
            <a:ext cx="493776" cy="493776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38" name="Image 7" descr="/home/claude/deck/assets/bullsey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122" y="3465210"/>
            <a:ext cx="256764" cy="25676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50408" y="3310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เกมจบ: หมุนให้ตรงค่า</a:t>
            </a:r>
            <a:endParaRPr lang="en-US" sz="1450" dirty="0"/>
          </a:p>
        </p:txBody>
      </p:sp>
      <p:sp>
        <p:nvSpPr>
          <p:cNvPr id="40" name="Text 30"/>
          <p:cNvSpPr/>
          <p:nvPr/>
        </p:nvSpPr>
        <p:spPr>
          <a:xfrm>
            <a:off x="7772400" y="323697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 นาที</a:t>
            </a:r>
            <a:endParaRPr lang="en-US" sz="1350" dirty="0"/>
          </a:p>
        </p:txBody>
      </p:sp>
      <p:sp>
        <p:nvSpPr>
          <p:cNvPr id="41" name="Shape 31"/>
          <p:cNvSpPr/>
          <p:nvPr/>
        </p:nvSpPr>
        <p:spPr>
          <a:xfrm>
            <a:off x="4800600" y="406908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928616" y="4178808"/>
            <a:ext cx="493776" cy="493776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43" name="Image 8" descr="/home/claude/deck/assets/trophy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7122" y="4297314"/>
            <a:ext cx="256764" cy="25676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550408" y="41422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 + แจกรางวัล</a:t>
            </a:r>
            <a:endParaRPr lang="en-US" sz="1450" dirty="0"/>
          </a:p>
        </p:txBody>
      </p:sp>
      <p:sp>
        <p:nvSpPr>
          <p:cNvPr id="45" name="Text 34"/>
          <p:cNvSpPr/>
          <p:nvPr/>
        </p:nvSpPr>
        <p:spPr>
          <a:xfrm>
            <a:off x="7772400" y="406908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97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 นาที</a:t>
            </a:r>
            <a:endParaRPr lang="en-US" sz="1350" dirty="0"/>
          </a:p>
        </p:txBody>
      </p:sp>
      <p:sp>
        <p:nvSpPr>
          <p:cNvPr id="46" name="Text 35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100" dirty="0"/>
          </a:p>
        </p:txBody>
      </p:sp>
      <p:pic>
        <p:nvPicPr>
          <p:cNvPr id="47" name="Image 9" descr="/home/claude/deck/assets/hero_dish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อุปกรณ์ที่ต้องเตรียม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 1 ทีม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8056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0140" y="1719072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8" name="Image 1" descr="/home/claude/deck/assets/esp32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934" y="1855866"/>
            <a:ext cx="348204" cy="3482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" y="2414016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ESP32 DevKit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21208" y="2706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NodeMCU-32S 38-pin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42032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14116" y="1719072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3" name="Image 2" descr="/home/claude/deck/assets/bread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910" y="1855866"/>
            <a:ext cx="348204" cy="3482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15184" y="2414016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Breadboard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615184" y="2706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แผ่นต่อวงจร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36008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08092" y="1719072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8" name="Image 3" descr="/home/claude/deck/assets/le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886" y="1855866"/>
            <a:ext cx="348204" cy="3482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2414016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LED 5 มม.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709160" y="2706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+ ตัวต้านทาน 220-330Ω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729984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02068" y="1719072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3" name="Image 4" descr="/home/claude/deck/assets/button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862" y="1855866"/>
            <a:ext cx="348204" cy="3482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03136" y="2414016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ปุ่มกด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803136" y="2706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+ ตัวต้านทาน 5-20kΩ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48056" y="31546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120140" y="3300984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8" name="Image 5" descr="/home/claude/deck/assets/po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934" y="3437778"/>
            <a:ext cx="348204" cy="3482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1208" y="39959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โพเทนชิโอมิเตอร์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21208" y="428853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หมุนได้ 1 ตัว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2542032" y="31546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214116" y="3300984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3" name="Image 6" descr="/home/claude/deck/assets/dh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0910" y="3437778"/>
            <a:ext cx="348204" cy="3482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615184" y="39959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DHT11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2615184" y="428853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เซนเซอร์วัดอากาศ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636008" y="31546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5308092" y="3300984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8" name="Image 7" descr="/home/claude/deck/assets/wir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4886" y="3437778"/>
            <a:ext cx="348204" cy="34820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09160" y="39959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สาย Jumper wire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4709160" y="428853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ให้เพียงพอ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729984" y="31546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402068" y="3300984"/>
            <a:ext cx="621792" cy="621792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43" name="Image 8" descr="/home/claude/deck/assets/computer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8862" y="3437778"/>
            <a:ext cx="348204" cy="34820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803136" y="39959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คอมพิวเตอร์</a:t>
            </a:r>
            <a:endParaRPr lang="en-US" sz="1250" dirty="0"/>
          </a:p>
        </p:txBody>
      </p:sp>
      <p:sp>
        <p:nvSpPr>
          <p:cNvPr id="45" name="Text 34"/>
          <p:cNvSpPr/>
          <p:nvPr/>
        </p:nvSpPr>
        <p:spPr>
          <a:xfrm>
            <a:off x="6803136" y="428853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Arduino IDE 2.x พร้อมใช้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100" dirty="0"/>
          </a:p>
        </p:txBody>
      </p:sp>
      <p:pic>
        <p:nvPicPr>
          <p:cNvPr id="47" name="Image 9" descr="/home/claude/deck/assets/hero_dish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ตารางพิน GPIO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ใช้พินเดิมตลอดทั้งเวิร์กช็อป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1947672"/>
            <a:ext cx="731520" cy="73152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8" name="Image 1" descr="/home/claude/deck/assets/butto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211226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ปุ่มกด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Push Button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5800" y="3474720"/>
            <a:ext cx="1463040" cy="530352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34747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4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2560320" y="16916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54680" y="1947672"/>
            <a:ext cx="731520" cy="73152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15" name="Image 2" descr="/home/claude/deck/assets/led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11226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5176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65176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หลอดไฟ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788920" y="3474720"/>
            <a:ext cx="1463040" cy="530352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</p:sp>
      <p:sp>
        <p:nvSpPr>
          <p:cNvPr id="19" name="Text 14"/>
          <p:cNvSpPr/>
          <p:nvPr/>
        </p:nvSpPr>
        <p:spPr>
          <a:xfrm>
            <a:off x="2788920" y="34747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5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663440" y="16916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57800" y="1947672"/>
            <a:ext cx="731520" cy="73152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22" name="Image 3" descr="/home/claude/deck/assets/pot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211226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5488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โพเทนชิโอมิเตอร์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75488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Potentiometer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892040" y="3474720"/>
            <a:ext cx="1463040" cy="530352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</p:sp>
      <p:sp>
        <p:nvSpPr>
          <p:cNvPr id="26" name="Text 20"/>
          <p:cNvSpPr/>
          <p:nvPr/>
        </p:nvSpPr>
        <p:spPr>
          <a:xfrm>
            <a:off x="4892040" y="34747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36 (ADC0)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766560" y="16916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360920" y="1947672"/>
            <a:ext cx="731520" cy="73152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29" name="Image 4" descr="/home/claude/deck/assets/dht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12" y="2112264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DHT11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85800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เซนเซอร์วัดอากาศ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995160" y="3474720"/>
            <a:ext cx="1463040" cy="530352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</p:sp>
      <p:sp>
        <p:nvSpPr>
          <p:cNvPr id="33" name="Text 26"/>
          <p:cNvSpPr/>
          <p:nvPr/>
        </p:nvSpPr>
        <p:spPr>
          <a:xfrm>
            <a:off x="6995160" y="34747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16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จำง่ายๆ: ปุ่มกด = GPIO 4  ·  LED = GPIO 5  ·  อยู่ติดกันบนบอร์ด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100" dirty="0"/>
          </a:p>
        </p:txBody>
      </p:sp>
      <p:pic>
        <p:nvPicPr>
          <p:cNvPr id="36" name="Image 5" descr="/home/claude/deck/assets/hero_di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circu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ขั้นตอน: ต่อวงจรรวม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ต่อครั้งเดียว ใช้ได้ตลอดทั้งวัน!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1280160"/>
            <a:ext cx="7406640" cy="3244291"/>
          </a:xfrm>
          <a:prstGeom prst="roundRect">
            <a:avLst>
              <a:gd name="adj" fmla="val 281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pic>
        <p:nvPicPr>
          <p:cNvPr id="7" name="Image 1" descr="/home/claude/deck/assets/combined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417320"/>
            <a:ext cx="7132320" cy="29699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64332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วงจรรวม: ESP32 + ปุ่มกด + LED + โพเทนชิโอมิเตอร์ + DHT11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493593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ใช้วงจรเดียวกันนี้ตลอดมิชชัน 1-3, มินิเกม, เว็บเซิร์ฟเวอร์ และเกมจบ — เปลี่ยนแค่โค้ด ไม่ต้องรื้อวงจร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100" dirty="0"/>
          </a:p>
        </p:txBody>
      </p:sp>
      <p:pic>
        <p:nvPicPr>
          <p:cNvPr id="11" name="Image 2" descr="/home/claude/deck/assets/hero_d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040380"/>
            <a:ext cx="2926080" cy="2926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2537460"/>
            <a:ext cx="3931920" cy="39319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2034540"/>
            <a:ext cx="4937760" cy="49377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1828800" cy="18288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7" name="Image 0" descr="/home/claude/deck/assets/le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91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ไฟ + ปุ่มกด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Digital Input / Output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11" name="Image 1" descr="/home/claude/deck/assets/hero_di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le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1: วงจรและอุปกรณ์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อ้างอิง: Lab 1 — ESP32 Digital Inputs and Outputs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" y="1554480"/>
            <a:ext cx="4480560" cy="2366223"/>
          </a:xfrm>
          <a:prstGeom prst="roundRect">
            <a:avLst>
              <a:gd name="adj" fmla="val 386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pic>
        <p:nvPicPr>
          <p:cNvPr id="7" name="Image 1" descr="/home/claude/deck/assets/mission1_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4206240" cy="20919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039575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LED ต่อที่ GPIO 5, ปุ่มกดต่อที่ GPIO 4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อุปกรณ์ที่ใช้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029200" y="2249424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Text 7"/>
          <p:cNvSpPr/>
          <p:nvPr/>
        </p:nvSpPr>
        <p:spPr>
          <a:xfrm>
            <a:off x="5321808" y="213969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ESP32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0" y="2706624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3" name="Text 9"/>
          <p:cNvSpPr/>
          <p:nvPr/>
        </p:nvSpPr>
        <p:spPr>
          <a:xfrm>
            <a:off x="5321808" y="259689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LED 5 มม. + ตัวต้านทาน 220-330Ω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0" y="3163824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Text 11"/>
          <p:cNvSpPr/>
          <p:nvPr/>
        </p:nvSpPr>
        <p:spPr>
          <a:xfrm>
            <a:off x="5321808" y="305409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ปุ่มกด + ตัวต้านทาน 5-20kΩ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029200" y="3621024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7" name="Text 13"/>
          <p:cNvSpPr/>
          <p:nvPr/>
        </p:nvSpPr>
        <p:spPr>
          <a:xfrm>
            <a:off x="5321808" y="351129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Breadboard, Jumper wire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1100" dirty="0"/>
          </a:p>
        </p:txBody>
      </p:sp>
      <p:pic>
        <p:nvPicPr>
          <p:cNvPr id="19" name="Image 2" descr="/home/claude/deck/assets/hero_d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1: โค้ด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วางโค้ดนี้ แล้วอัปโหลดขึ้น ESP32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5212080" cy="3525012"/>
          </a:xfrm>
          <a:prstGeom prst="roundRect">
            <a:avLst>
              <a:gd name="adj" fmla="val 2817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55064"/>
            <a:ext cx="109728" cy="109728"/>
          </a:xfrm>
          <a:prstGeom prst="ellipse">
            <a:avLst/>
          </a:prstGeom>
          <a:solidFill>
            <a:srgbClr val="E4472A"/>
          </a:solidFill>
          <a:ln/>
        </p:spPr>
      </p:sp>
      <p:sp>
        <p:nvSpPr>
          <p:cNvPr id="8" name="Shape 5"/>
          <p:cNvSpPr/>
          <p:nvPr/>
        </p:nvSpPr>
        <p:spPr>
          <a:xfrm>
            <a:off x="859536" y="1655064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9" name="Shape 6"/>
          <p:cNvSpPr/>
          <p:nvPr/>
        </p:nvSpPr>
        <p:spPr>
          <a:xfrm>
            <a:off x="1078992" y="1655064"/>
            <a:ext cx="109728" cy="1097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7"/>
          <p:cNvSpPr/>
          <p:nvPr/>
        </p:nvSpPr>
        <p:spPr>
          <a:xfrm>
            <a:off x="1389888" y="1640204"/>
            <a:ext cx="3829929" cy="33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มิชชัน 1: ปุ่มกดคุม LED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buttonPin = 4;   // ขาปุ่มกด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ledPin = 5;      // ขา LED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buttonState = 0;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pinMode(buttonPin, INPUT);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pinMode(ledPin, OUTPUT);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buttonState = digitalRead(buttonPin);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Serial.println(buttonState);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(buttonState == HIGH)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digitalWrite(ledPin, HIGH);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digitalWrite(ledPin, LOW);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508760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FEF3E2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53328" y="1709928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3" name="Image 1" descr="/home/claude/deck/assets/penci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98" y="181279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8544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ลองทำ!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38544" y="2011680"/>
            <a:ext cx="1874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1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ลองสลับเงื่อนไข HIGH กับ LOW ดูสิ! แล้วสังเกตค่า 0/1 ใน Serial Monitor เทียบกับสถานะ LED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1100" dirty="0"/>
          </a:p>
        </p:txBody>
      </p:sp>
      <p:pic>
        <p:nvPicPr>
          <p:cNvPr id="17" name="Image 2" descr="/home/claude/deck/assets/hero_d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040380"/>
            <a:ext cx="2926080" cy="2926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2537460"/>
            <a:ext cx="3931920" cy="39319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2034540"/>
            <a:ext cx="4937760" cy="49377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1828800" cy="18288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7" name="Image 0" descr="/home/claude/deck/assets/p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91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หมุนแล้วเห็นผล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ADC / โพเทนชิโอมิเตอร์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11" name="Image 1" descr="/home/claude/deck/assets/hero_di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2: โค้ด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อ้างอิง: Lab 2 — ESP32 ADC, Read Analog Values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5212080" cy="3525012"/>
          </a:xfrm>
          <a:prstGeom prst="roundRect">
            <a:avLst>
              <a:gd name="adj" fmla="val 2817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55064"/>
            <a:ext cx="109728" cy="109728"/>
          </a:xfrm>
          <a:prstGeom prst="ellipse">
            <a:avLst/>
          </a:prstGeom>
          <a:solidFill>
            <a:srgbClr val="E4472A"/>
          </a:solidFill>
          <a:ln/>
        </p:spPr>
      </p:sp>
      <p:sp>
        <p:nvSpPr>
          <p:cNvPr id="8" name="Shape 5"/>
          <p:cNvSpPr/>
          <p:nvPr/>
        </p:nvSpPr>
        <p:spPr>
          <a:xfrm>
            <a:off x="859536" y="1655064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9" name="Shape 6"/>
          <p:cNvSpPr/>
          <p:nvPr/>
        </p:nvSpPr>
        <p:spPr>
          <a:xfrm>
            <a:off x="1078992" y="1655064"/>
            <a:ext cx="109728" cy="1097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7"/>
          <p:cNvSpPr/>
          <p:nvPr/>
        </p:nvSpPr>
        <p:spPr>
          <a:xfrm>
            <a:off x="1389888" y="1691640"/>
            <a:ext cx="3436913" cy="326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// มิชชัน 2: อ่านค่าโพเทนชิโอมิเตอร์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const int potPin = 36;  // ขาโพเทนชิโอมิเตอร์ (ADC0)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int potValue = 0;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void setup() {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  Serial.begin(115200);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  delay(1000);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}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void loop() {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  potValue = analogRead(potPin);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  Serial.println(potValue);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  delay(500);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7E3F7"/>
                </a:solidFill>
                <a:latin typeface="Cordia New" panose="020B0304020202020204" pitchFamily="34" charset="-34"/>
                <a:ea typeface="Courier New" pitchFamily="34" charset="-122"/>
                <a:cs typeface="Cordia New" panose="020B0304020202020204" pitchFamily="34" charset="-34"/>
              </a:rPr>
              <a:t>}</a:t>
            </a:r>
            <a:endParaRPr lang="en-US" sz="1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852160" y="1508760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FEF3E2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53328" y="1709928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3" name="Image 1" descr="/home/claude/deck/assets/penci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98" y="181279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8544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ลองทำ!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38544" y="2011680"/>
            <a:ext cx="1874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1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ลองแก้ค่า delay(500) เพื่อปรับความถี่การอ่านค่า แล้วหมุนสุดซ้าย - กลาง - สุดขวา บันทึกค่าที่ได้ 3 จุด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100" dirty="0"/>
          </a:p>
        </p:txBody>
      </p:sp>
      <p:pic>
        <p:nvPicPr>
          <p:cNvPr id="17" name="Image 2" descr="/home/claude/deck/assets/hero_d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040380"/>
            <a:ext cx="2926080" cy="2926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2537460"/>
            <a:ext cx="3931920" cy="39319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2034540"/>
            <a:ext cx="4937760" cy="49377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1828800" cy="18288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7" name="Image 0" descr="/home/claude/deck/assets/dh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91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เซนเซอร์วัดอากาศ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DHT11 — วัดอุณหภูมิและความชื้น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11" name="Image 1" descr="/home/claude/deck/assets/hero_di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3: โค้ด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อ้างอิง: Lab 3 — ESP32 DHT11 Basic  ·  ครูติดตั้ง Library ไว้ล่วงหน้าแล้ว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168146"/>
            <a:ext cx="5212080" cy="3586734"/>
          </a:xfrm>
          <a:prstGeom prst="roundRect">
            <a:avLst>
              <a:gd name="adj" fmla="val 2817"/>
            </a:avLst>
          </a:prstGeom>
          <a:solidFill>
            <a:srgbClr val="122340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55064"/>
            <a:ext cx="109728" cy="109728"/>
          </a:xfrm>
          <a:prstGeom prst="ellipse">
            <a:avLst/>
          </a:prstGeom>
          <a:solidFill>
            <a:srgbClr val="E4472A"/>
          </a:solidFill>
          <a:ln/>
        </p:spPr>
      </p:sp>
      <p:sp>
        <p:nvSpPr>
          <p:cNvPr id="8" name="Shape 5"/>
          <p:cNvSpPr/>
          <p:nvPr/>
        </p:nvSpPr>
        <p:spPr>
          <a:xfrm>
            <a:off x="859536" y="1655064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9" name="Shape 6"/>
          <p:cNvSpPr/>
          <p:nvPr/>
        </p:nvSpPr>
        <p:spPr>
          <a:xfrm>
            <a:off x="1078992" y="1655064"/>
            <a:ext cx="109728" cy="1097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7"/>
          <p:cNvSpPr/>
          <p:nvPr/>
        </p:nvSpPr>
        <p:spPr>
          <a:xfrm>
            <a:off x="1319022" y="1634490"/>
            <a:ext cx="4118141" cy="303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"DHT.h"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DHTPIN 16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DHTTYPE DHT11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DHT dht(DHTPIN, DHTTYPE);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dht.begin();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temp = dht.readTemperature();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hum  = dht.readHumidity();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Serial.print("อุณหภูมิ: "); Serial.print(temp);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 C ความชื้น: "); Serial.print(hum);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Serial.println(" %");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delay(2000);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508760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FEF3E2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53328" y="1709928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3" name="Image 1" descr="/home/claude/deck/assets/penci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98" y="181279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8544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ลองทำ!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38544" y="2011680"/>
            <a:ext cx="1874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1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ลองแก้ค่า delay(2000) ท้าย loop แล้ววัดอุณหภูมิห้องของทีมตัวเอง เทียบกับทีมอื่นดูสิ!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1100" dirty="0"/>
          </a:p>
        </p:txBody>
      </p:sp>
      <p:pic>
        <p:nvPicPr>
          <p:cNvPr id="17" name="Image 2" descr="/home/claude/deck/assets/hero_d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2926080" cy="2926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0" y="-1600200"/>
            <a:ext cx="3931920" cy="39319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-2103120"/>
            <a:ext cx="4937760" cy="49377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6" name="Image 0" descr="/home/claude/deck/assets/stopwat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31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502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มินิเกม: กดให้ไว ก่อนภัยมา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60020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ต่อยอดจากมิชชัน 1 (ปุ่มกด + LED) — ไม่ต้องต่อวงจรเพิ่ม!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7E3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ระบบสุ่มเวลารอ แล้วให้ไฟ LED ติดขึ้นมา นักเรียนต้องกดปุ่มให้เร็วที่สุด! ระบบวัดเวลาปฏิกิริยา แล้วไฟจะกะพริบบอกผลทันที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C3358"/>
          </a:solidFill>
          <a:ln/>
        </p:spPr>
      </p:sp>
      <p:sp>
        <p:nvSpPr>
          <p:cNvPr id="11" name="Shape 8"/>
          <p:cNvSpPr/>
          <p:nvPr/>
        </p:nvSpPr>
        <p:spPr>
          <a:xfrm>
            <a:off x="1554480" y="2651760"/>
            <a:ext cx="640080" cy="640080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12" name="Image 1" descr="/home/claude/deck/asset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8117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เร็วมาก!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ไฟกะพริบเร็ว 3 ครั้ง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37560" y="24231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C3358"/>
          </a:solidFill>
          <a:ln/>
        </p:spPr>
      </p:sp>
      <p:sp>
        <p:nvSpPr>
          <p:cNvPr id="16" name="Shape 12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7" name="Image 2" descr="/home/claude/deck/asset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28117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เร็วดี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42900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ไฟกะพริบช้า 2 ครั้ง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0" y="24231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C3358"/>
          </a:solidFill>
          <a:ln/>
        </p:spPr>
      </p:sp>
      <p:sp>
        <p:nvSpPr>
          <p:cNvPr id="21" name="Shape 16"/>
          <p:cNvSpPr/>
          <p:nvPr/>
        </p:nvSpPr>
        <p:spPr>
          <a:xfrm>
            <a:off x="6949440" y="2651760"/>
            <a:ext cx="640080" cy="640080"/>
          </a:xfrm>
          <a:prstGeom prst="ellipse">
            <a:avLst/>
          </a:prstGeom>
          <a:solidFill>
            <a:srgbClr val="3A5378"/>
          </a:solidFill>
          <a:ln/>
        </p:spPr>
      </p:sp>
      <p:pic>
        <p:nvPicPr>
          <p:cNvPr id="22" name="Image 3" descr="/home/claude/deck/asset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460" y="2811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64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ลองใหม่นะ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12648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ไฟติดค้าง 1 วินาที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แต่ละทีมเล่น 3 รอบ — จดผลที่ดีที่สุดของทีมบนกระดานหน้าห้อง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1100" dirty="0"/>
          </a:p>
        </p:txBody>
      </p:sp>
      <p:pic>
        <p:nvPicPr>
          <p:cNvPr id="27" name="Image 4" descr="/home/claude/deck/assets/hero_di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0" cy="640080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3" name="Image 0" descr="/home/claude/deck/asset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528066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5: เว็บเซิร์ฟเวอร์ (Bonus)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แสดงผลรวมมิชชัน 1-3 ผ่านเบราว์เซอร์ ไม่ต้องใช้อินเทอร์เน็ต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6052" y="1691640"/>
            <a:ext cx="1920240" cy="2331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28700" y="1920240"/>
            <a:ext cx="694944" cy="694944"/>
          </a:xfrm>
          <a:prstGeom prst="ellipse">
            <a:avLst/>
          </a:prstGeom>
          <a:solidFill>
            <a:srgbClr val="122340"/>
          </a:solidFill>
          <a:ln/>
        </p:spPr>
      </p:sp>
      <p:pic>
        <p:nvPicPr>
          <p:cNvPr id="8" name="Image 1" descr="/home/claude/deck/assets/comput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209397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204" y="27432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 อัปโหลดโค้ด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07492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 Serial Monitor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ดู IP (192.168.4.1)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354580" y="26060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546604" y="1691640"/>
            <a:ext cx="1920240" cy="2331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59252" y="1920240"/>
            <a:ext cx="694944" cy="694944"/>
          </a:xfrm>
          <a:prstGeom prst="ellipse">
            <a:avLst/>
          </a:prstGeom>
          <a:solidFill>
            <a:srgbClr val="3F6FBF"/>
          </a:solidFill>
          <a:ln/>
        </p:spPr>
      </p:sp>
      <p:pic>
        <p:nvPicPr>
          <p:cNvPr id="14" name="Image 2" descr="/home/claude/deck/asset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88" y="20939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19756" y="27432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2. เชื่อมต่อ WiFi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638044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ใช้มือถือค้นหา WiFi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ชื่อทีม แล้วใส่รหัสผ่าน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485132" y="26060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677156" y="1691640"/>
            <a:ext cx="1920240" cy="2331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289804" y="1920240"/>
            <a:ext cx="694944" cy="694944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20" name="Image 3" descr="/home/claude/deck/asset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540" y="209397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308" y="27432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 เปิดเบราว์เซอร์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768596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พิมพ์ 192.168.4.1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ในแถบที่อยู่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615684" y="26060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807708" y="1691640"/>
            <a:ext cx="1920240" cy="2331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6233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20356" y="1920240"/>
            <a:ext cx="694944" cy="694944"/>
          </a:xfrm>
          <a:prstGeom prst="ellipse">
            <a:avLst/>
          </a:prstGeom>
          <a:solidFill>
            <a:srgbClr val="2E9E6B"/>
          </a:solidFill>
          <a:ln/>
        </p:spPr>
      </p:sp>
      <p:pic>
        <p:nvPicPr>
          <p:cNvPr id="26" name="Image 4" descr="/home/claude/deck/asset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093976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80860" y="27432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ดูผลเรียลไทม์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899148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 / โพเทนชิโอมิเตอร์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อุณหภูมิ / ความชื้น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57200" y="42519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DECE8"/>
          </a:solidFill>
          <a:ln/>
        </p:spPr>
      </p:sp>
      <p:sp>
        <p:nvSpPr>
          <p:cNvPr id="30" name="Shape 23"/>
          <p:cNvSpPr/>
          <p:nvPr/>
        </p:nvSpPr>
        <p:spPr>
          <a:xfrm>
            <a:off x="594360" y="4343400"/>
            <a:ext cx="384048" cy="384048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31" name="Image 5" descr="/home/claude/deck/assets/warn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1" y="4429811"/>
            <a:ext cx="211226" cy="2112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7280" y="425196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2A1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ข้อควรระวัง: แต่ละทีมต้องตั้งชื่อ WiFi (ssid) ไม่ซ้ำกัน มิเช่นนั้นมือถือในห้องจะเห็นชื่อ WiFi ซ้ำกันหลายอัน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2C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</a:t>
            </a:r>
            <a:endParaRPr lang="en-US" sz="1100" dirty="0"/>
          </a:p>
        </p:txBody>
      </p:sp>
      <p:pic>
        <p:nvPicPr>
          <p:cNvPr id="34" name="Image 6" descr="/home/claude/deck/assets/hero_di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1097280"/>
            <a:ext cx="2926080" cy="2926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1600200"/>
            <a:ext cx="3931920" cy="39319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-2103120"/>
            <a:ext cx="4937760" cy="49377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6" name="Image 0" descr="/home/claude/deck/asset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31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502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เกมจบ: หมุนให้ตรงค่า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60020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ต่อยอดจากมิชชัน 2 (โพเทนชิโอมิเตอร์) — ไม่ต้องต่อวงจรเพิ่ม!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7E3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ระบบสุ่มค่าเป้าหมายขึ้นมา นักเรียนต้องหมุนโพเทนชิโอมิเตอร์ให้ได้ค่าใกล้เคียงเป้าหมายที่สุด ภายในเวลาที่กำหนด (10 วินาทีต่อรอบ)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C3358"/>
          </a:solidFill>
          <a:ln/>
        </p:spPr>
      </p:sp>
      <p:sp>
        <p:nvSpPr>
          <p:cNvPr id="11" name="Shape 8"/>
          <p:cNvSpPr/>
          <p:nvPr/>
        </p:nvSpPr>
        <p:spPr>
          <a:xfrm>
            <a:off x="1554480" y="2651760"/>
            <a:ext cx="640080" cy="640080"/>
          </a:xfrm>
          <a:prstGeom prst="ellipse">
            <a:avLst/>
          </a:prstGeom>
          <a:solidFill>
            <a:srgbClr val="E4472A"/>
          </a:solidFill>
          <a:ln/>
        </p:spPr>
      </p:sp>
      <p:pic>
        <p:nvPicPr>
          <p:cNvPr id="12" name="Image 1" descr="/home/claude/deck/asset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8117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ตรงเป้า!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ห่างจากเป้าหมาย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ไม่เกิน 50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37560" y="24231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C3358"/>
          </a:solidFill>
          <a:ln/>
        </p:spPr>
      </p:sp>
      <p:sp>
        <p:nvSpPr>
          <p:cNvPr id="16" name="Shape 12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7" name="Image 2" descr="/home/claude/deck/asset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28117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ใกล้แล้ว!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4290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ห่างจากเป้าหมาย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ไม่เกิน 150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0" y="24231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C3358"/>
          </a:solidFill>
          <a:ln/>
        </p:spPr>
      </p:sp>
      <p:sp>
        <p:nvSpPr>
          <p:cNvPr id="21" name="Shape 16"/>
          <p:cNvSpPr/>
          <p:nvPr/>
        </p:nvSpPr>
        <p:spPr>
          <a:xfrm>
            <a:off x="6949440" y="2651760"/>
            <a:ext cx="640080" cy="640080"/>
          </a:xfrm>
          <a:prstGeom prst="ellipse">
            <a:avLst/>
          </a:prstGeom>
          <a:solidFill>
            <a:srgbClr val="3A5378"/>
          </a:solidFill>
          <a:ln/>
        </p:spPr>
      </p:sp>
      <p:pic>
        <p:nvPicPr>
          <p:cNvPr id="22" name="Image 3" descr="/home/claude/deck/asset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811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64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ยังไกลอยู่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1264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ห่างจากเป้าหมาย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FC0D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มากกว่า 150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แข่งทีละทีม จับคะแนนความแม่นยำที่ดีที่สุด — เขียนผลบนกระดานหน้าห้อง แล้วประกาศผู้ชนะ!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16</a:t>
            </a:r>
            <a:endParaRPr lang="en-US" sz="1100" dirty="0"/>
          </a:p>
        </p:txBody>
      </p:sp>
      <p:pic>
        <p:nvPicPr>
          <p:cNvPr id="27" name="Image 4" descr="/home/claude/deck/assets/hero_di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1851660"/>
            <a:ext cx="3108960" cy="310896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91740" y="1325880"/>
            <a:ext cx="4160520" cy="416052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800100"/>
            <a:ext cx="5212080" cy="5212080"/>
          </a:xfrm>
          <a:prstGeom prst="ellipse">
            <a:avLst/>
          </a:prstGeom>
          <a:ln w="19050">
            <a:solidFill>
              <a:srgbClr val="2A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6" name="Image 0" descr="/home/claude/deck/asset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83210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ขอบคุณที่ร่วมภารกิจ!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A93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สรุปสิ่งที่เรียนรู้ + ประกาศผลผู้ชนะ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46020" y="3337560"/>
            <a:ext cx="685800" cy="68580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10" name="Image 1" descr="/home/claude/deck/assets/le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470" y="35090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63140" y="40965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34740" y="3337560"/>
            <a:ext cx="685800" cy="68580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13" name="Image 2" descr="/home/claude/deck/assets/p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190" y="350901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1860" y="40965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2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23460" y="3337560"/>
            <a:ext cx="685800" cy="68580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16" name="Image 3" descr="/home/claude/deck/assets/dh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0" y="35090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40580" y="40965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3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012180" y="3337560"/>
            <a:ext cx="685800" cy="685800"/>
          </a:xfrm>
          <a:prstGeom prst="ellipse">
            <a:avLst/>
          </a:prstGeom>
          <a:solidFill>
            <a:srgbClr val="1C3358"/>
          </a:solidFill>
          <a:ln/>
        </p:spPr>
      </p:sp>
      <p:pic>
        <p:nvPicPr>
          <p:cNvPr id="19" name="Image 4" descr="/home/claude/deck/assets/wifi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630" y="3509010"/>
            <a:ext cx="342900" cy="342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29300" y="40965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มิชชัน 5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704088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17</a:t>
            </a:r>
            <a:endParaRPr lang="en-US" sz="1100" dirty="0"/>
          </a:p>
        </p:txBody>
      </p:sp>
      <p:pic>
        <p:nvPicPr>
          <p:cNvPr id="22" name="Image 5" descr="/home/claude/deck/assets/hero_di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7594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1163</Words>
  <Application>Microsoft Office PowerPoint</Application>
  <PresentationFormat>On-screen Show (16:9)</PresentationFormat>
  <Paragraphs>238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Cordia New</vt:lpstr>
      <vt:lpstr>Courier New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ภารกิจเฝ้าระวังภัยพิบัติ - ESP32 IoT Workshop</dc:title>
  <dc:subject>PptxGenJS Presentation</dc:subject>
  <dc:creator>Workshop Team</dc:creator>
  <cp:lastModifiedBy>Jettanan Juejan</cp:lastModifiedBy>
  <cp:revision>2</cp:revision>
  <dcterms:created xsi:type="dcterms:W3CDTF">2026-07-08T20:50:19Z</dcterms:created>
  <dcterms:modified xsi:type="dcterms:W3CDTF">2026-07-09T14:32:26Z</dcterms:modified>
</cp:coreProperties>
</file>